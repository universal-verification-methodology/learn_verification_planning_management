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now have a working map of verification planning and management: traceability from feature to coverage, taxonomy and matrices, bins and closure, risk and replay cards, triage and metrics, CI-to-farm flow, sign-off criteria, and VIP handoff. Protocol and UVM courses build engines; you learned how to plan, measure, and gate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plans others can audit. Prefer measurable coverage claims over test-name lists. Mix test tiers on purpose. Close holes with next-test ideas. Prioritize by risk and impact. File fails with seed, config, and tags. Bucket nightly noise. Track a few honest bars. Promote only through honest stages. Sign off with evidence or owned waivers.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used browser boards, take one checklist or matrix into markdown for a real block. If you mainly wrote docs, revisit any planning lab for graded challenges. Either way, keep the vocabulary shared with your team.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UART, SPI, or I²C to attach plans to protocol work. Deepen UVM and pyuvm when you need stronger TB engines. Use HDL simulator, Icarus, or Verilator courses when execution fidelity is the bottleneck. Climb the syllabus ladder for the gap you feel most.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Plans without coverage claims are theater. Coverage without closure actions stalls. Metrics without triage lie. Sign-off without evidence is hope. Small, maintained artifacts beat giant unread spreadsheets.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off the wrap checklist. You finished the verification planning and management path. Pick one real project artifact to improve this week—a matrix row, a run card, or a sign-off line—then continue to the next course that matches your goal.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Planning path complete</a:t>
            </a:r>
          </a:p>
          <a:p>
            <a:pPr algn="ctr">
              <a:lnSpc>
                <a:spcPts val="2200"/>
              </a:lnSpc>
              <a:spcBef>
                <a:spcPts val="1400"/>
              </a:spcBef>
            </a:pPr>
            <a:r>
              <a:rPr sz="2600" b="0">
                <a:solidFill>
                  <a:srgbClr val="333333"/>
                </a:solidFill>
                <a:latin typeface="Calibri"/>
              </a:rPr>
              <a:t>You now have a working map of verification planning and management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Skills you can reuse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Write plans others can audit</a:t>
            </a:r>
          </a:p>
          <a:p>
            <a:pPr lvl="0" marL="457200" indent="-228600">
              <a:buFont typeface="Calibri"/>
              <a:spcAft>
                <a:spcPts val="1000"/>
              </a:spcAft>
              <a:buSzPct val="100000"/>
              <a:buChar char="•"/>
              <a:lnSpc>
                <a:spcPts val="2200"/>
              </a:lnSpc>
            </a:pPr>
            <a:r>
              <a:rPr sz="2000" b="0">
                <a:solidFill>
                  <a:srgbClr val="333333"/>
                </a:solidFill>
                <a:latin typeface="Calibri"/>
              </a:rPr>
              <a:t>Prefer measurable coverage claims over test-name lists</a:t>
            </a:r>
          </a:p>
          <a:p>
            <a:pPr lvl="0" marL="457200" indent="-228600">
              <a:buFont typeface="Calibri"/>
              <a:spcAft>
                <a:spcPts val="1000"/>
              </a:spcAft>
              <a:buSzPct val="100000"/>
              <a:buChar char="•"/>
              <a:lnSpc>
                <a:spcPts val="2200"/>
              </a:lnSpc>
            </a:pPr>
            <a:r>
              <a:rPr sz="2000" b="0">
                <a:solidFill>
                  <a:srgbClr val="333333"/>
                </a:solidFill>
                <a:latin typeface="Calibri"/>
              </a:rPr>
              <a:t>Mix test tiers on purpose</a:t>
            </a:r>
          </a:p>
          <a:p>
            <a:pPr lvl="0" marL="457200" indent="-228600">
              <a:buFont typeface="Calibri"/>
              <a:spcAft>
                <a:spcPts val="1000"/>
              </a:spcAft>
              <a:buSzPct val="100000"/>
              <a:buChar char="•"/>
              <a:lnSpc>
                <a:spcPts val="2200"/>
              </a:lnSpc>
            </a:pPr>
            <a:r>
              <a:rPr sz="2000" b="0">
                <a:solidFill>
                  <a:srgbClr val="333333"/>
                </a:solidFill>
                <a:latin typeface="Calibri"/>
              </a:rPr>
              <a:t>Close holes with next-test ideas</a:t>
            </a:r>
          </a:p>
          <a:p>
            <a:pPr lvl="0" marL="457200" indent="-228600">
              <a:buFont typeface="Calibri"/>
              <a:spcAft>
                <a:spcPts val="1000"/>
              </a:spcAft>
              <a:buSzPct val="100000"/>
              <a:buChar char="•"/>
              <a:lnSpc>
                <a:spcPts val="2200"/>
              </a:lnSpc>
            </a:pPr>
            <a:r>
              <a:rPr sz="2000" b="0">
                <a:solidFill>
                  <a:srgbClr val="333333"/>
                </a:solidFill>
                <a:latin typeface="Calibri"/>
              </a:rPr>
              <a:t>Prioritize by risk and impact</a:t>
            </a:r>
          </a:p>
          <a:p>
            <a:pPr lvl="0" marL="457200" indent="-228600">
              <a:buFont typeface="Calibri"/>
              <a:spcAft>
                <a:spcPts val="1000"/>
              </a:spcAft>
              <a:buSzPct val="100000"/>
              <a:buChar char="•"/>
              <a:lnSpc>
                <a:spcPts val="2200"/>
              </a:lnSpc>
            </a:pPr>
            <a:r>
              <a:rPr sz="2000" b="0">
                <a:solidFill>
                  <a:srgbClr val="333333"/>
                </a:solidFill>
                <a:latin typeface="Calibri"/>
              </a:rPr>
              <a:t>File fails with seed, config, and tags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Dual-track recap</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used browser boards</a:t>
            </a:r>
          </a:p>
          <a:p>
            <a:pPr lvl="0" marL="457200" indent="-228600">
              <a:buFont typeface="Calibri"/>
              <a:spcAft>
                <a:spcPts val="1000"/>
              </a:spcAft>
              <a:buSzPct val="100000"/>
              <a:buChar char="•"/>
              <a:lnSpc>
                <a:spcPts val="2200"/>
              </a:lnSpc>
            </a:pPr>
            <a:r>
              <a:rPr sz="2000" b="0">
                <a:solidFill>
                  <a:srgbClr val="333333"/>
                </a:solidFill>
                <a:latin typeface="Calibri"/>
              </a:rPr>
              <a:t>If you mainly wrote docs, revisit any planning lab for graded challenges</a:t>
            </a:r>
          </a:p>
          <a:p>
            <a:pPr lvl="0" marL="457200" indent="-228600">
              <a:buFont typeface="Calibri"/>
              <a:spcAft>
                <a:spcPts val="1000"/>
              </a:spcAft>
              <a:buSzPct val="100000"/>
              <a:buChar char="•"/>
              <a:lnSpc>
                <a:spcPts val="2200"/>
              </a:lnSpc>
            </a:pPr>
            <a:r>
              <a:rPr sz="2000" b="0">
                <a:solidFill>
                  <a:srgbClr val="333333"/>
                </a:solidFill>
                <a:latin typeface="Calibri"/>
              </a:rPr>
              <a:t>Either way, keep the vocabulary shared with your team</a:t>
            </a:r>
          </a:p>
        </p:txBody>
      </p:sp>
      <p:pic>
        <p:nvPicPr>
          <p:cNvPr id="4" name="Picture 3" descr="tools-index.png"/>
          <p:cNvPicPr>
            <a:picLocks noChangeAspect="1"/>
          </p:cNvPicPr>
          <p:nvPr/>
        </p:nvPicPr>
        <p:blipFill>
          <a:blip r:embed="rId2"/>
          <a:stretch>
            <a:fillRect/>
          </a:stretch>
        </p:blipFill>
        <p:spPr>
          <a:xfrm>
            <a:off x="6172200" y="1715214"/>
            <a:ext cx="5394960" cy="3793331"/>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Where to go 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Return to UART, SPI, or I²C to attach plans to protocol work</a:t>
            </a:r>
          </a:p>
          <a:p>
            <a:pPr lvl="0" marL="457200" indent="-228600">
              <a:buFont typeface="Calibri"/>
              <a:spcAft>
                <a:spcPts val="1000"/>
              </a:spcAft>
              <a:buSzPct val="100000"/>
              <a:buChar char="•"/>
              <a:lnSpc>
                <a:spcPts val="2200"/>
              </a:lnSpc>
            </a:pPr>
            <a:r>
              <a:rPr sz="2000" b="0">
                <a:solidFill>
                  <a:srgbClr val="333333"/>
                </a:solidFill>
                <a:latin typeface="Calibri"/>
              </a:rPr>
              <a:t>Deepen UVM and pyuvm when you need stronger TB engines</a:t>
            </a:r>
          </a:p>
          <a:p>
            <a:pPr lvl="0" marL="457200" indent="-228600">
              <a:buFont typeface="Calibri"/>
              <a:spcAft>
                <a:spcPts val="1000"/>
              </a:spcAft>
              <a:buSzPct val="100000"/>
              <a:buChar char="•"/>
              <a:lnSpc>
                <a:spcPts val="2200"/>
              </a:lnSpc>
            </a:pPr>
            <a:r>
              <a:rPr sz="2000" b="0">
                <a:solidFill>
                  <a:srgbClr val="333333"/>
                </a:solidFill>
                <a:latin typeface="Calibri"/>
              </a:rPr>
              <a:t>Use HDL simulator, Icarus, or Verilator courses when execution fidelity is the bottleneck</a:t>
            </a:r>
          </a:p>
          <a:p>
            <a:pPr lvl="0" marL="457200" indent="-228600">
              <a:buFont typeface="Calibri"/>
              <a:spcAft>
                <a:spcPts val="1000"/>
              </a:spcAft>
              <a:buSzPct val="100000"/>
              <a:buChar char="•"/>
              <a:lnSpc>
                <a:spcPts val="2200"/>
              </a:lnSpc>
            </a:pPr>
            <a:r>
              <a:rPr sz="2000" b="0">
                <a:solidFill>
                  <a:srgbClr val="333333"/>
                </a:solidFill>
                <a:latin typeface="Calibri"/>
              </a:rPr>
              <a:t>Climb the syllabus ladder for the gap you feel most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Mindset to keep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Plans without coverage claims are theater</a:t>
            </a:r>
          </a:p>
          <a:p>
            <a:pPr lvl="0" marL="457200" indent="-228600">
              <a:buFont typeface="Calibri"/>
              <a:spcAft>
                <a:spcPts val="1000"/>
              </a:spcAft>
              <a:buSzPct val="100000"/>
              <a:buChar char="•"/>
              <a:lnSpc>
                <a:spcPts val="2200"/>
              </a:lnSpc>
            </a:pPr>
            <a:r>
              <a:rPr sz="2000" b="0">
                <a:solidFill>
                  <a:srgbClr val="333333"/>
                </a:solidFill>
                <a:latin typeface="Calibri"/>
              </a:rPr>
              <a:t>Coverage without closure actions stalls</a:t>
            </a:r>
          </a:p>
          <a:p>
            <a:pPr lvl="0" marL="457200" indent="-228600">
              <a:buFont typeface="Calibri"/>
              <a:spcAft>
                <a:spcPts val="1000"/>
              </a:spcAft>
              <a:buSzPct val="100000"/>
              <a:buChar char="•"/>
              <a:lnSpc>
                <a:spcPts val="2200"/>
              </a:lnSpc>
            </a:pPr>
            <a:r>
              <a:rPr sz="2000" b="0">
                <a:solidFill>
                  <a:srgbClr val="333333"/>
                </a:solidFill>
                <a:latin typeface="Calibri"/>
              </a:rPr>
              <a:t>Metrics without triage lie</a:t>
            </a:r>
          </a:p>
          <a:p>
            <a:pPr lvl="0" marL="457200" indent="-228600">
              <a:buFont typeface="Calibri"/>
              <a:spcAft>
                <a:spcPts val="1000"/>
              </a:spcAft>
              <a:buSzPct val="100000"/>
              <a:buChar char="•"/>
              <a:lnSpc>
                <a:spcPts val="2200"/>
              </a:lnSpc>
            </a:pPr>
            <a:r>
              <a:rPr sz="2000" b="0">
                <a:solidFill>
                  <a:srgbClr val="333333"/>
                </a:solidFill>
                <a:latin typeface="Calibri"/>
              </a:rPr>
              <a:t>Sign-off without evidence is hope</a:t>
            </a:r>
          </a:p>
          <a:p>
            <a:pPr lvl="0" marL="457200" indent="-228600">
              <a:buFont typeface="Calibri"/>
              <a:spcAft>
                <a:spcPts val="1000"/>
              </a:spcAft>
              <a:buSzPct val="100000"/>
              <a:buChar char="•"/>
              <a:lnSpc>
                <a:spcPts val="2200"/>
              </a:lnSpc>
            </a:pPr>
            <a:r>
              <a:rPr sz="2000" b="0">
                <a:solidFill>
                  <a:srgbClr val="333333"/>
                </a:solidFill>
                <a:latin typeface="Calibri"/>
              </a:rPr>
              <a:t>Small, maintained artifacts beat giant unread spreadsheets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Check off the wrap checklist</a:t>
            </a:r>
          </a:p>
          <a:p>
            <a:pPr lvl="0" marL="457200" indent="-228600">
              <a:buFont typeface="Calibri"/>
              <a:spcAft>
                <a:spcPts val="1000"/>
              </a:spcAft>
              <a:buSzPct val="100000"/>
              <a:buChar char="•"/>
              <a:lnSpc>
                <a:spcPts val="2200"/>
              </a:lnSpc>
            </a:pPr>
            <a:r>
              <a:rPr sz="2000" b="0">
                <a:solidFill>
                  <a:srgbClr val="333333"/>
                </a:solidFill>
                <a:latin typeface="Calibri"/>
              </a:rPr>
              <a:t>You finished the verification planning and management path</a:t>
            </a:r>
          </a:p>
          <a:p>
            <a:pPr lvl="0" marL="457200" indent="-228600">
              <a:buFont typeface="Calibri"/>
              <a:spcAft>
                <a:spcPts val="1000"/>
              </a:spcAft>
              <a:buSzPct val="100000"/>
              <a:buChar char="•"/>
              <a:lnSpc>
                <a:spcPts val="2200"/>
              </a:lnSpc>
            </a:pPr>
            <a:r>
              <a:rPr sz="2000" b="0">
                <a:solidFill>
                  <a:srgbClr val="333333"/>
                </a:solidFill>
                <a:latin typeface="Calibri"/>
              </a:rPr>
              <a:t>Pick one real project artifact to improve this week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