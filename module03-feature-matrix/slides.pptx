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matrix makes intersections visible. Rows are features; columns are scenarios. Each cell is empty, planned, or covered. Empty means you never decided; planned means intent without proof; covered means evidence exists. Scanning gaps is how plans stop lying to you.</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Mark P when you intend a test or story for that intersection. Mark C when a bin, checklist, or passing directed check proves it. A board with no empty cells can still be weak if everything is only P—intent without evidence. Closing gaps means either plan the empty cell or produce coverage for a planned one.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feature-matrix lab, load the starter UART transmit and receive against byte, idle, and error scenarios with no empty cells. Cycle cells between empty, P, and C. Load a one-gap or many-gaps preset and scan until you can name every hole.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Draw a two-by-three grid for one block: two features, three scenarios. Fill each cell with dash, P, or C. Leave one empty on purpose, then write the next action that would fill it. That next-action habit is the point of the matrix.</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conflate P with C. Do not celebrate zero empty cells when nothing is covered. Do not hide rare scenarios off the grid. And do not grow the matrix so huge that nobody maintains it—start small and real.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Complete the checklist for at least one track—preferably both. Scan one matrix for gaps, fix or name them, then take the quiz and continue to cover bins.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828800"/>
            <a:ext cx="11064240" cy="2743200"/>
          </a:xfrm>
          <a:prstGeom prst="rect">
            <a:avLst/>
          </a:prstGeom>
          <a:noFill/>
        </p:spPr>
        <p:txBody>
          <a:bodyPr wrap="square">
            <a:noAutofit/>
          </a:bodyPr>
          <a:lstStyle/>
          <a:p>
            <a:pPr algn="ctr">
              <a:lnSpc>
                <a:spcPts val="2200"/>
              </a:lnSpc>
              <a:spcAft>
                <a:spcPts val="400"/>
              </a:spcAft>
            </a:pPr>
            <a:r>
              <a:rPr sz="4000" b="1">
                <a:solidFill>
                  <a:srgbClr val="1A1A2E"/>
                </a:solidFill>
                <a:latin typeface="Calibri"/>
              </a:rPr>
              <a:t>Feature × scenario matrix</a:t>
            </a:r>
          </a:p>
          <a:p>
            <a:pPr algn="ctr">
              <a:lnSpc>
                <a:spcPts val="2200"/>
              </a:lnSpc>
              <a:spcBef>
                <a:spcPts val="1400"/>
              </a:spcBef>
            </a:pPr>
            <a:r>
              <a:rPr sz="2600" b="0">
                <a:solidFill>
                  <a:srgbClr val="333333"/>
                </a:solidFill>
                <a:latin typeface="Calibri"/>
              </a:rPr>
              <a:t>A matrix makes intersections visible</a:t>
            </a:r>
          </a:p>
        </p:txBody>
      </p:sp>
      <p:sp>
        <p:nvSpPr>
          <p:cNvPr id="3" name="TextBox 2"/>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learn_verification_planning_management — feature matrix</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Planned versus covered</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Mark P when you intend a test or story for that intersection</a:t>
            </a:r>
          </a:p>
          <a:p>
            <a:pPr lvl="0" marL="457200" indent="-228600">
              <a:buFont typeface="Calibri"/>
              <a:spcAft>
                <a:spcPts val="1000"/>
              </a:spcAft>
              <a:buSzPct val="100000"/>
              <a:buChar char="•"/>
              <a:lnSpc>
                <a:spcPts val="2200"/>
              </a:lnSpc>
            </a:pPr>
            <a:r>
              <a:rPr sz="2000" b="0">
                <a:solidFill>
                  <a:srgbClr val="333333"/>
                </a:solidFill>
                <a:latin typeface="Calibri"/>
              </a:rPr>
              <a:t>Mark C when a bin, checklist, or passing directed check proves it</a:t>
            </a:r>
          </a:p>
          <a:p>
            <a:pPr lvl="0" marL="457200" indent="-228600">
              <a:buFont typeface="Calibri"/>
              <a:spcAft>
                <a:spcPts val="1000"/>
              </a:spcAft>
              <a:buSzPct val="100000"/>
              <a:buChar char="•"/>
              <a:lnSpc>
                <a:spcPts val="2200"/>
              </a:lnSpc>
            </a:pPr>
            <a:r>
              <a:rPr sz="2000" b="0">
                <a:solidFill>
                  <a:srgbClr val="333333"/>
                </a:solidFill>
                <a:latin typeface="Calibri"/>
              </a:rPr>
              <a:t>A board with no empty cells can still be weak if everything is only P</a:t>
            </a:r>
          </a:p>
          <a:p>
            <a:pPr lvl="0" marL="457200" indent="-228600">
              <a:buFont typeface="Calibri"/>
              <a:spcAft>
                <a:spcPts val="1000"/>
              </a:spcAft>
              <a:buSzPct val="100000"/>
              <a:buChar char="•"/>
              <a:lnSpc>
                <a:spcPts val="2200"/>
              </a:lnSpc>
            </a:pPr>
            <a:r>
              <a:rPr sz="2000" b="0">
                <a:solidFill>
                  <a:srgbClr val="333333"/>
                </a:solidFill>
                <a:latin typeface="Calibri"/>
              </a:rPr>
              <a:t>Closing gaps means either plan the empty cell or produce coverage for a planned one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learn_verification_planning_management — feature matrix</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Browser lab</a:t>
            </a:r>
          </a:p>
        </p:txBody>
      </p:sp>
      <p:pic>
        <p:nvPicPr>
          <p:cNvPr id="3" name="Picture 2" descr="lab-starter.png"/>
          <p:cNvPicPr>
            <a:picLocks noChangeAspect="1"/>
          </p:cNvPicPr>
          <p:nvPr/>
        </p:nvPicPr>
        <p:blipFill>
          <a:blip r:embed="rId2"/>
          <a:stretch>
            <a:fillRect/>
          </a:stretch>
        </p:blipFill>
        <p:spPr>
          <a:xfrm>
            <a:off x="548640" y="1143000"/>
            <a:ext cx="6502400" cy="4572000"/>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Lab starter</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learn_verification_planning_management — feature matrix</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Planning docs practice</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Draw a two-by-three grid for one block: two features, three scenarios</a:t>
            </a:r>
          </a:p>
          <a:p>
            <a:pPr lvl="0" marL="457200" indent="-228600">
              <a:buFont typeface="Calibri"/>
              <a:spcAft>
                <a:spcPts val="1000"/>
              </a:spcAft>
              <a:buSzPct val="100000"/>
              <a:buChar char="•"/>
              <a:lnSpc>
                <a:spcPts val="2200"/>
              </a:lnSpc>
            </a:pPr>
            <a:r>
              <a:rPr sz="2000" b="0">
                <a:solidFill>
                  <a:srgbClr val="333333"/>
                </a:solidFill>
                <a:latin typeface="Calibri"/>
              </a:rPr>
              <a:t>Fill each cell with dash, P, or C</a:t>
            </a:r>
          </a:p>
          <a:p>
            <a:pPr lvl="0" marL="457200" indent="-228600">
              <a:buFont typeface="Calibri"/>
              <a:spcAft>
                <a:spcPts val="1000"/>
              </a:spcAft>
              <a:buSzPct val="100000"/>
              <a:buChar char="•"/>
              <a:lnSpc>
                <a:spcPts val="2200"/>
              </a:lnSpc>
            </a:pPr>
            <a:r>
              <a:rPr sz="2000" b="0">
                <a:solidFill>
                  <a:srgbClr val="333333"/>
                </a:solidFill>
                <a:latin typeface="Calibri"/>
              </a:rPr>
              <a:t>Leave one empty on purpose, then write the next action that would fill it</a:t>
            </a:r>
          </a:p>
          <a:p>
            <a:pPr lvl="0" marL="457200" indent="-228600">
              <a:buFont typeface="Calibri"/>
              <a:spcAft>
                <a:spcPts val="1000"/>
              </a:spcAft>
              <a:buSzPct val="100000"/>
              <a:buChar char="•"/>
              <a:lnSpc>
                <a:spcPts val="2200"/>
              </a:lnSpc>
            </a:pPr>
            <a:r>
              <a:rPr sz="2000" b="0">
                <a:solidFill>
                  <a:srgbClr val="333333"/>
                </a:solidFill>
                <a:latin typeface="Calibri"/>
              </a:rPr>
              <a:t>That next-action habit is the point of the matrix</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learn_verification_planning_management — feature matrix</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Pitfalls to watch</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Do not conflate P with C</a:t>
            </a:r>
          </a:p>
          <a:p>
            <a:pPr lvl="0" marL="457200" indent="-228600">
              <a:buFont typeface="Calibri"/>
              <a:spcAft>
                <a:spcPts val="1000"/>
              </a:spcAft>
              <a:buSzPct val="100000"/>
              <a:buChar char="•"/>
              <a:lnSpc>
                <a:spcPts val="2200"/>
              </a:lnSpc>
            </a:pPr>
            <a:r>
              <a:rPr sz="2000" b="0">
                <a:solidFill>
                  <a:srgbClr val="333333"/>
                </a:solidFill>
                <a:latin typeface="Calibri"/>
              </a:rPr>
              <a:t>Do not celebrate zero empty cells when nothing is covered</a:t>
            </a:r>
          </a:p>
          <a:p>
            <a:pPr lvl="0" marL="457200" indent="-228600">
              <a:buFont typeface="Calibri"/>
              <a:spcAft>
                <a:spcPts val="1000"/>
              </a:spcAft>
              <a:buSzPct val="100000"/>
              <a:buChar char="•"/>
              <a:lnSpc>
                <a:spcPts val="2200"/>
              </a:lnSpc>
            </a:pPr>
            <a:r>
              <a:rPr sz="2000" b="0">
                <a:solidFill>
                  <a:srgbClr val="333333"/>
                </a:solidFill>
                <a:latin typeface="Calibri"/>
              </a:rPr>
              <a:t>Do not hide rare scenarios off the grid</a:t>
            </a:r>
          </a:p>
          <a:p>
            <a:pPr lvl="0" marL="457200" indent="-228600">
              <a:buFont typeface="Calibri"/>
              <a:spcAft>
                <a:spcPts val="1000"/>
              </a:spcAft>
              <a:buSzPct val="100000"/>
              <a:buChar char="•"/>
              <a:lnSpc>
                <a:spcPts val="2200"/>
              </a:lnSpc>
            </a:pPr>
            <a:r>
              <a:rPr sz="2000" b="0">
                <a:solidFill>
                  <a:srgbClr val="333333"/>
                </a:solidFill>
                <a:latin typeface="Calibri"/>
              </a:rPr>
              <a:t>And do not grow the matrix so huge that nobody maintains it, start small and real</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learn_verification_planning_management — feature matrix</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Your turn</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Complete the checklist for at least one track, preferably both</a:t>
            </a:r>
          </a:p>
          <a:p>
            <a:pPr lvl="0" marL="457200" indent="-228600">
              <a:buFont typeface="Calibri"/>
              <a:spcAft>
                <a:spcPts val="1000"/>
              </a:spcAft>
              <a:buSzPct val="100000"/>
              <a:buChar char="•"/>
              <a:lnSpc>
                <a:spcPts val="2200"/>
              </a:lnSpc>
            </a:pPr>
            <a:r>
              <a:rPr sz="2000" b="0">
                <a:solidFill>
                  <a:srgbClr val="333333"/>
                </a:solidFill>
                <a:latin typeface="Calibri"/>
              </a:rPr>
              <a:t>Scan one matrix for gaps, fix or name them, then take the quiz and continue to cover bins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learn_verification_planning_management — feature matrix</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