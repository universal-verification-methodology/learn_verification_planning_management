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test should be the same shape. Taxonomy sorts intent: directed checks for known requirements, constrained-random for breadth, stress for long pressure, and corner or negative cases for illegal and boundary behavior. A balanced plan mixes tiers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Directed means hand-crafted stimulus for a known scenario. Random means constrained-legal traffic to explore space. Stress means long-run, backlog, or concurrent pressure. Corner means illegal, framing, or rare edges. Open rows are untyped; skewed means one tier dominates; balanced means each tier has intentional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taxonomy lab, load the starter with one test per tier until status reads balanced. Try an all-directed preset and watch skewed appear. Classify an open row, then scan the plan. Challenges lock in what each tier is for—not just cute names.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four short test names for a UART-like block and tag each directed, random, stress, or corner. If everything is directed, rewrite one as random and one as corner. Say in one sentence why the mix reduces escape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equate balanced taxonomy with one-hundred percent functional coverage. Do not leave tests untyped on a living plan. Do not hide negative cases because they are “hard.” And do not confuse a green CI job with a thoughtfully tiered suite.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Classify a small set until it looks balanced, then take the quiz and continue to the feature-by-scenario matrix.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Test taxonomy</a:t>
            </a:r>
          </a:p>
          <a:p>
            <a:pPr algn="ctr">
              <a:lnSpc>
                <a:spcPts val="2200"/>
              </a:lnSpc>
              <a:spcBef>
                <a:spcPts val="1400"/>
              </a:spcBef>
            </a:pPr>
            <a:r>
              <a:rPr sz="2600" b="0">
                <a:solidFill>
                  <a:srgbClr val="333333"/>
                </a:solidFill>
                <a:latin typeface="Calibri"/>
              </a:rPr>
              <a:t>Not every test should be the same shape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tiers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Directed means hand-crafted stimulus for a known scenario</a:t>
            </a:r>
          </a:p>
          <a:p>
            <a:pPr lvl="0" marL="457200" indent="-228600">
              <a:buFont typeface="Calibri"/>
              <a:spcAft>
                <a:spcPts val="1000"/>
              </a:spcAft>
              <a:buSzPct val="100000"/>
              <a:buChar char="•"/>
              <a:lnSpc>
                <a:spcPts val="2200"/>
              </a:lnSpc>
            </a:pPr>
            <a:r>
              <a:rPr sz="2000" b="0">
                <a:solidFill>
                  <a:srgbClr val="333333"/>
                </a:solidFill>
                <a:latin typeface="Calibri"/>
              </a:rPr>
              <a:t>Random means constrained-legal traffic to explore space</a:t>
            </a:r>
          </a:p>
          <a:p>
            <a:pPr lvl="0" marL="457200" indent="-228600">
              <a:buFont typeface="Calibri"/>
              <a:spcAft>
                <a:spcPts val="1000"/>
              </a:spcAft>
              <a:buSzPct val="100000"/>
              <a:buChar char="•"/>
              <a:lnSpc>
                <a:spcPts val="2200"/>
              </a:lnSpc>
            </a:pPr>
            <a:r>
              <a:rPr sz="2000" b="0">
                <a:solidFill>
                  <a:srgbClr val="333333"/>
                </a:solidFill>
                <a:latin typeface="Calibri"/>
              </a:rPr>
              <a:t>Stress means long-run, backlog, or concurrent pressure</a:t>
            </a:r>
          </a:p>
          <a:p>
            <a:pPr lvl="0" marL="457200" indent="-228600">
              <a:buFont typeface="Calibri"/>
              <a:spcAft>
                <a:spcPts val="1000"/>
              </a:spcAft>
              <a:buSzPct val="100000"/>
              <a:buChar char="•"/>
              <a:lnSpc>
                <a:spcPts val="2200"/>
              </a:lnSpc>
            </a:pPr>
            <a:r>
              <a:rPr sz="2000" b="0">
                <a:solidFill>
                  <a:srgbClr val="333333"/>
                </a:solidFill>
                <a:latin typeface="Calibri"/>
              </a:rPr>
              <a:t>Corner means illegal, framing, or rare edges</a:t>
            </a:r>
          </a:p>
          <a:p>
            <a:pPr lvl="0" marL="457200" indent="-228600">
              <a:buFont typeface="Calibri"/>
              <a:spcAft>
                <a:spcPts val="1000"/>
              </a:spcAft>
              <a:buSzPct val="100000"/>
              <a:buChar char="•"/>
              <a:lnSpc>
                <a:spcPts val="2200"/>
              </a:lnSpc>
            </a:pPr>
            <a:r>
              <a:rPr sz="2000" b="0">
                <a:solidFill>
                  <a:srgbClr val="333333"/>
                </a:solidFill>
                <a:latin typeface="Calibri"/>
              </a:rPr>
              <a:t>Open rows are untyped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List four short test names for a UART-like block and tag each directed</a:t>
            </a:r>
          </a:p>
          <a:p>
            <a:pPr lvl="0" marL="457200" indent="-228600">
              <a:buFont typeface="Calibri"/>
              <a:spcAft>
                <a:spcPts val="1000"/>
              </a:spcAft>
              <a:buSzPct val="100000"/>
              <a:buChar char="•"/>
              <a:lnSpc>
                <a:spcPts val="2200"/>
              </a:lnSpc>
            </a:pPr>
            <a:r>
              <a:rPr sz="2000" b="0">
                <a:solidFill>
                  <a:srgbClr val="333333"/>
                </a:solidFill>
                <a:latin typeface="Calibri"/>
              </a:rPr>
              <a:t>If everything is directed, rewrite one as random and one as corner</a:t>
            </a:r>
          </a:p>
          <a:p>
            <a:pPr lvl="0" marL="457200" indent="-228600">
              <a:buFont typeface="Calibri"/>
              <a:spcAft>
                <a:spcPts val="1000"/>
              </a:spcAft>
              <a:buSzPct val="100000"/>
              <a:buChar char="•"/>
              <a:lnSpc>
                <a:spcPts val="2200"/>
              </a:lnSpc>
            </a:pPr>
            <a:r>
              <a:rPr sz="2000" b="0">
                <a:solidFill>
                  <a:srgbClr val="333333"/>
                </a:solidFill>
                <a:latin typeface="Calibri"/>
              </a:rPr>
              <a:t>Say in one sentence why the mix reduces escape risk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equate balanced taxonomy with one-hundred percent functional coverage</a:t>
            </a:r>
          </a:p>
          <a:p>
            <a:pPr lvl="0" marL="457200" indent="-228600">
              <a:buFont typeface="Calibri"/>
              <a:spcAft>
                <a:spcPts val="1000"/>
              </a:spcAft>
              <a:buSzPct val="100000"/>
              <a:buChar char="•"/>
              <a:lnSpc>
                <a:spcPts val="2200"/>
              </a:lnSpc>
            </a:pPr>
            <a:r>
              <a:rPr sz="2000" b="0">
                <a:solidFill>
                  <a:srgbClr val="333333"/>
                </a:solidFill>
                <a:latin typeface="Calibri"/>
              </a:rPr>
              <a:t>Do not leave tests untyped on a living plan</a:t>
            </a:r>
          </a:p>
          <a:p>
            <a:pPr lvl="0" marL="457200" indent="-228600">
              <a:buFont typeface="Calibri"/>
              <a:spcAft>
                <a:spcPts val="1000"/>
              </a:spcAft>
              <a:buSzPct val="100000"/>
              <a:buChar char="•"/>
              <a:lnSpc>
                <a:spcPts val="2200"/>
              </a:lnSpc>
            </a:pPr>
            <a:r>
              <a:rPr sz="2000" b="0">
                <a:solidFill>
                  <a:srgbClr val="333333"/>
                </a:solidFill>
                <a:latin typeface="Calibri"/>
              </a:rPr>
              <a:t>Do not hide negative cases because they are “hard.” And do not confuse a green CI job with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Classify a small set until it looks balanced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test taxonomy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